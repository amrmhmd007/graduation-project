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 %</c:v>
                </c:pt>
              </c:strCache>
            </c:strRef>
          </c:tx>
          <c:spPr>
            <a:solidFill>
              <a:srgbClr val="3B3F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Seoul parking light</c:v>
                  </c:pt>
                  <c:pt idx="1">
                    <c:v>UC Irvine labs (avg)</c:v>
                  </c:pt>
                  <c:pt idx="2">
                    <c:v>UC Irvine NS-II</c:v>
                  </c:pt>
                  <c:pt idx="3">
                    <c:v>Utah Eyring (est.)</c:v>
                  </c:pt>
                  <c:pt idx="4">
                    <c:v>MSU Anthony Hall</c:v>
                  </c:pt>
                  <c:pt idx="5">
                    <c:v>Seoul class light</c:v>
                  </c:pt>
                  <c:pt idx="6">
                    <c:v>Seoul dorm RMS</c:v>
                  </c:pt>
                  <c:pt idx="7">
                    <c:v>Seoul class cooling</c:v>
                  </c:pt>
                  <c:pt idx="8">
                    <c:v>CMU/DOE (target)</c:v>
                  </c:pt>
                  <c:pt idx="9">
                    <c:v>Pace (program)</c:v>
                  </c:pt>
                  <c:pt idx="10">
                    <c:v>ACEEE edu. model</c:v>
                  </c:pt>
                  <c:pt idx="11">
                    <c:v>LBNL FDD median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77.6</c:v>
                </c:pt>
                <c:pt idx="1">
                  <c:v>61</c:v>
                </c:pt>
                <c:pt idx="2">
                  <c:v>51</c:v>
                </c:pt>
                <c:pt idx="3">
                  <c:v>44</c:v>
                </c:pt>
                <c:pt idx="4">
                  <c:v>34</c:v>
                </c:pt>
                <c:pt idx="5">
                  <c:v>32.4</c:v>
                </c:pt>
                <c:pt idx="6">
                  <c:v>28.2</c:v>
                </c:pt>
                <c:pt idx="7">
                  <c:v>27.9</c:v>
                </c:pt>
                <c:pt idx="8">
                  <c:v>20</c:v>
                </c:pt>
                <c:pt idx="9">
                  <c:v>18</c:v>
                </c:pt>
                <c:pt idx="10">
                  <c:v>11</c:v>
                </c:pt>
                <c:pt idx="11">
                  <c:v>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1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16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16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2163A"/>
                </a:solidFill>
                <a:latin typeface="Arial"/>
              </a:rPr>
              <a:t>By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GWh saved / year</c:v>
                </c:pt>
              </c:strCache>
            </c:strRef>
          </c:tx>
          <c:spPr>
            <a:solidFill>
              <a:srgbClr val="3B3F9E"/>
            </a:solidFill>
            <a:effectLst/>
          </c:spPr>
          <c:invertIfNegative val="0"/>
          <c:dLbls>
            <c:numFmt formatCode="0.00&quot; GWh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1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Moderate</c:v>
                  </c:pt>
                  <c:pt idx="2">
                    <c:v>High-impact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1.08</c:v>
                </c:pt>
                <c:pt idx="1">
                  <c:v>3.28</c:v>
                </c:pt>
                <c:pt idx="2">
                  <c:v>7.66</c:v>
                </c:pt>
              </c:numCache>
            </c:numRef>
          </c:val>
        </c:ser>
        <c:dLbls>
          <c:numFmt formatCode="0.00&quot; GWh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21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16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16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2163A"/>
                </a:solidFill>
                <a:latin typeface="Arial"/>
              </a:rPr>
              <a:t>Moderate case by building category (MWh/yr)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3B3F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1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Academic</c:v>
                  </c:pt>
                  <c:pt idx="1">
                    <c:v>Laboratories (teaching)</c:v>
                  </c:pt>
                  <c:pt idx="2">
                    <c:v>Admin</c:v>
                  </c:pt>
                  <c:pt idx="3">
                    <c:v>Dormitories</c:v>
                  </c:pt>
                  <c:pt idx="4">
                    <c:v>Sports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1422</c:v>
                </c:pt>
                <c:pt idx="1">
                  <c:v>122</c:v>
                </c:pt>
                <c:pt idx="2">
                  <c:v>444</c:v>
                </c:pt>
                <c:pt idx="3">
                  <c:v>820</c:v>
                </c:pt>
                <c:pt idx="4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1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16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16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2163A"/>
                </a:solidFill>
                <a:latin typeface="Arial"/>
              </a:rPr>
              <a:t>Cumulative GWh saved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5A6080"/>
            </a:solidFill>
            <a:ln w="38100" cap="flat">
              <a:solidFill>
                <a:srgbClr val="5A60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A6080"/>
              </a:solidFill>
              <a:ln w="9525" cap="flat">
                <a:solidFill>
                  <a:srgbClr val="5A60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Y0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1.08</c:v>
                </c:pt>
                <c:pt idx="2">
                  <c:v>2.17</c:v>
                </c:pt>
                <c:pt idx="3">
                  <c:v>3.25</c:v>
                </c:pt>
                <c:pt idx="4">
                  <c:v>4.34</c:v>
                </c:pt>
                <c:pt idx="5">
                  <c:v>5.42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3B3F9E"/>
            </a:solidFill>
            <a:ln w="38100" cap="flat">
              <a:solidFill>
                <a:srgbClr val="3B3F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B3F9E"/>
              </a:solidFill>
              <a:ln w="9525" cap="flat">
                <a:solidFill>
                  <a:srgbClr val="3B3F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Y0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3.28</c:v>
                </c:pt>
                <c:pt idx="2">
                  <c:v>6.56</c:v>
                </c:pt>
                <c:pt idx="3">
                  <c:v>9.84</c:v>
                </c:pt>
                <c:pt idx="4">
                  <c:v>13.12</c:v>
                </c:pt>
                <c:pt idx="5">
                  <c:v>16.4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High-impact</c:v>
                </c:pt>
              </c:strCache>
            </c:strRef>
          </c:tx>
          <c:spPr>
            <a:solidFill>
              <a:srgbClr val="B0202A"/>
            </a:solidFill>
            <a:ln w="38100" cap="flat">
              <a:solidFill>
                <a:srgbClr val="B02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0202A"/>
              </a:solidFill>
              <a:ln w="9525" cap="flat">
                <a:solidFill>
                  <a:srgbClr val="B02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Y0</c:v>
                  </c:pt>
                  <c:pt idx="1">
                    <c:v>Y1</c:v>
                  </c:pt>
                  <c:pt idx="2">
                    <c:v>Y2</c:v>
                  </c:pt>
                  <c:pt idx="3">
                    <c:v>Y3</c:v>
                  </c:pt>
                  <c:pt idx="4">
                    <c:v>Y4</c:v>
                  </c:pt>
                  <c:pt idx="5">
                    <c:v>Y5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7.66</c:v>
                </c:pt>
                <c:pt idx="2">
                  <c:v>15.31</c:v>
                </c:pt>
                <c:pt idx="3">
                  <c:v>22.97</c:v>
                </c:pt>
                <c:pt idx="4">
                  <c:v>30.62</c:v>
                </c:pt>
                <c:pt idx="5">
                  <c:v>38.28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16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demonstrated range is wide and scope-dependent; AIU defensible range is 5-13% of controllable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Chart: do not average. Cmu is a target; Utah an estimate; Colorado Mesa excluded (geothermal).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Dorm = key-card RMS (not PIR). Classroom results: two on/off pairs. Do not extrapolate parking 77.6%.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263,020 = REDCON contract BUA; 174,000 = SIAC package; 100,390 = REC for same package as SIAC (unreconciled). ~150 acres is land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 10% on controlled 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 18%.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28%.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savings come from air-change-rate control; our system acts on non-critical loads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prototype; commands may show queued_no_broker / COMMAND_FAILED without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AIU SMART CAMPUS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Impact &amp; Benchmark Analysis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have already demonstrated measurable energy savings through smart sensing and automated control. The question is how much of that opportunity can be captured at AIU through an integrated cyber-physical control platform.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benchmark-based projections, not measured AIU results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(Lee &amp; Kim 2020), S2–S12; AIU contract data A2–A3; model: AIU_Energy_Model. All AIU figures are estimates.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tat Measured classroom savings, H University, Seoul (cooling / lighting)"/>
          <p:cNvSpPr/>
          <p:nvPr/>
        </p:nvSpPr>
        <p:spPr>
          <a:xfrm>
            <a:off x="548640" y="13716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813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27.9–32.4%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2265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classroom savings, H University, Seoul (cooling / lighting)</a:t>
            </a:r>
            <a:endParaRPr lang="en-US" sz="1300" dirty="0"/>
          </a:p>
        </p:txBody>
      </p:sp>
      <p:sp>
        <p:nvSpPr>
          <p:cNvPr id="9" name="stat Benchmark-based AIU baseline (not measured)"/>
          <p:cNvSpPr/>
          <p:nvPr/>
        </p:nvSpPr>
        <p:spPr>
          <a:xfrm>
            <a:off x="4297680" y="13716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34840" y="14813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≈43 GWh/yr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22265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Benchmark-based AIU baseline (not measured)</a:t>
            </a:r>
            <a:endParaRPr lang="en-US" sz="1300" dirty="0"/>
          </a:p>
        </p:txBody>
      </p:sp>
      <p:sp>
        <p:nvSpPr>
          <p:cNvPr id="12" name="stat Defensible target on controllable energy (≈2.5–7.6% of total)"/>
          <p:cNvSpPr/>
          <p:nvPr/>
        </p:nvSpPr>
        <p:spPr>
          <a:xfrm>
            <a:off x="8046720" y="137160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14813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5–13%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22265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target on controllable energy (≈2.5–7.6% of total)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29184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real, but each number measures something different: lighting-only, HVAC-only, building, lab or campus programme.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1.08 / 3.28 / 7.66 GWh per year (Conservative / Moderate / High-impact).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controls lighting, HVAC set-points/shutdown and non-critical loads — not all campus energy.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validate with AIU meter data and a controlled on/off pilot.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campuses run on schedules, people don't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hot-climate campuses are cooling-dominated (S14); occupancy-driven control addresses the mismatch.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≠ schedule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are lit and cooled whether or not anyone is there.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are rarely quantified per campus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results rarely translate to a specific campus size.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560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is only one risk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83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physical actions also need verification, evidence and audit.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Question: how much energy could AIU Smart Campus realistically save at Alamein International University?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university benchmarks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S1–S12. Bars are NOT comparable averages: scope differs (see right). Targets/estimates are labelled.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73152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1381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Lighting/HVAC end-use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28–78%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retrofit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34%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1381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51–61%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programme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138160" y="4389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≈18%, LBNL 9%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4937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estimate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13816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20%, Utah 44%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Korean university experimental study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S1: Lee &amp; Kim, Sustainability 12(22):9471 (2020). H University, Seoul, South Korea — not a U.S. study. Measured ON/OFF, 4–7 weeks per test.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tat Parking lighting (918.66 m², dimmable, 6 wks)"/>
          <p:cNvSpPr/>
          <p:nvPr/>
        </p:nvSpPr>
        <p:spPr>
          <a:xfrm>
            <a:off x="54864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813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77.6%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2714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lighting (918.66 m², dimmable, 6 wks)</a:t>
            </a:r>
            <a:endParaRPr lang="en-US" sz="1300" dirty="0"/>
          </a:p>
        </p:txBody>
      </p:sp>
      <p:sp>
        <p:nvSpPr>
          <p:cNvPr id="9" name="stat Classroom lighting (3 rooms, 4 wks)"/>
          <p:cNvSpPr/>
          <p:nvPr/>
        </p:nvSpPr>
        <p:spPr>
          <a:xfrm>
            <a:off x="338328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4813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32714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lighting (3 rooms, 4 wks)</a:t>
            </a:r>
            <a:endParaRPr lang="en-US" sz="1300" dirty="0"/>
          </a:p>
        </p:txBody>
      </p:sp>
      <p:sp>
        <p:nvSpPr>
          <p:cNvPr id="12" name="stat Classroom cooling (EHP)"/>
          <p:cNvSpPr/>
          <p:nvPr/>
        </p:nvSpPr>
        <p:spPr>
          <a:xfrm>
            <a:off x="621792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4813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27.9%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32714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cooling (EHP)</a:t>
            </a:r>
            <a:endParaRPr lang="en-US" sz="1300" dirty="0"/>
          </a:p>
        </p:txBody>
      </p:sp>
      <p:sp>
        <p:nvSpPr>
          <p:cNvPr id="15" name="stat Dormitory, key-card RMS (10 vs 120 rooms)"/>
          <p:cNvSpPr/>
          <p:nvPr/>
        </p:nvSpPr>
        <p:spPr>
          <a:xfrm>
            <a:off x="905256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89720" y="148132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28.2%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327148"/>
            <a:ext cx="2377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Dormitory, key-card RMS (10 vs 120 rooms)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care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Application-specific, shoulder-season (May–June, Oct–Nov), one campus.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 saving is reference-calibrated: 40.0 / 16.2 / 30.9% in the three weeks.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Per-area daily values (25.0 / 55.0 / 39.5 / 142.4 Wh/m²·day) — no annual campus total.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U.S. university benchmarks — what each number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S2–S12 (U.S. DOE Better Buildings, UCI News, LBNL, ACEEE). Colorado Mesa (geothermal, 14.86M kWh/yr) excluded from savings-rate selection.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Anthony Hall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Building-level multi-measure retrofit; $536k/yr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Irvine Smart Labs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51–61%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ventilation redesign; NS-II excludes process loads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University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1920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≈18%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697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programme; 26M kWh + 1M therms through 2022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LBNL SEA campaign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 median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software; 6,500 buildings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840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Univ. of Utah Eyring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 (est.)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Lab/classroom retrofit — estimated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/ DOE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3891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target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166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sensing + MPC — not a result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AIU campus scale — three numbers, three meanings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A1–A6: SIAC, REDCON, REC Consultants, Amwal Al Ghad 2018, Architizer. Current operating area and student count: not publicly verified.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55448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B0202A"/>
          </a:solidFill>
          <a:ln w="12700">
            <a:solidFill>
              <a:srgbClr val="B020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5544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operating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031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faculty buildings, 4 accommodation towers, library, admin, hospitals (reported)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built-up area: not publicly verified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count: not publicly verified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55448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3B3F9E"/>
          </a:solidFill>
          <a:ln w="12700">
            <a:solidFill>
              <a:srgbClr val="3B3F9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5544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BUA (documented)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1031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263,020 m² — REDCON scope: 4 educational + 2 housing buildings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174,000 m² — SIAC package (REC says 100,390 m²)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campus total; not additive without confirmation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3816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66760" y="155448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6760" y="15544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master plan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21031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≈150 acres land area (acres per source; user cites feddan)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phase: 3 buildings + major hospital, unquantified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≈15,000 students at full build-out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263,020 m² as the central reference area; 174,000 and 437,020 m² as sensitivities.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AIU baseline estimate: area × energy-use intensity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(hot-climate university EUIs: Sharjah ≈165, Dammam 167–217, Al-Rajhi 145–155 kWh/m²·yr). Benchmark-based estimated baseline, NOT actual AIU consumption.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energy = built-up area × EUI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kWh/m²·yr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 (mid)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 kWh/m²·yr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174,000 m²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22.62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28.71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37.41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263,020 m² (central)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34.19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43.40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56.55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437,020 m² (unverified sum)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56.81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72.11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93.96 GWh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case: 43,398,300 kWh = 43,398 MWh = 43.4 GWh per year — confidence MEDIUM (area LOW–MEDIUM).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energy ≠ total energy: only lighting, HVAC, plug and scheduled loads are in scope.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 scenario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saved = baseline × controllable share × coverage × saving rate on controlled loads. Rates: S1, S6, S10–S13. Estimates, subject to AIU baseline validation.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tat Controllable share of total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share of total</a:t>
            </a:r>
            <a:endParaRPr lang="en-US" sz="1300" dirty="0"/>
          </a:p>
        </p:txBody>
      </p:sp>
      <p:sp>
        <p:nvSpPr>
          <p:cNvPr id="9" name="stat Automation coverage (project target)"/>
          <p:cNvSpPr/>
          <p:nvPr/>
        </p:nvSpPr>
        <p:spPr>
          <a:xfrm>
            <a:off x="338328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 (project target)</a:t>
            </a:r>
            <a:endParaRPr lang="en-US" sz="1300" dirty="0"/>
          </a:p>
        </p:txBody>
      </p:sp>
      <p:sp>
        <p:nvSpPr>
          <p:cNvPr id="12" name="stat Saving on controlled loads"/>
          <p:cNvSpPr/>
          <p:nvPr/>
        </p:nvSpPr>
        <p:spPr>
          <a:xfrm>
            <a:off x="62179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on controlled loads</a:t>
            </a:r>
            <a:endParaRPr lang="en-US" sz="1300" dirty="0"/>
          </a:p>
        </p:txBody>
      </p:sp>
      <p:sp>
        <p:nvSpPr>
          <p:cNvPr id="15" name="stat Annual energy saved"/>
          <p:cNvSpPr/>
          <p:nvPr/>
        </p:nvSpPr>
        <p:spPr>
          <a:xfrm>
            <a:off x="905256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5A6080"/>
          </a:solidFill>
          <a:ln w="12700">
            <a:solidFill>
              <a:srgbClr val="5A608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8972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 GWh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saved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2.5% of total  |  5.0% of controllable  |  90,413 kWh per month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scenario is reasonable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matches LBNL median FDD saving (9%) and ACEEE education occupancy model (11%).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controllable load is covered; the rest awaits sensors/actuators.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defensible lower bound — near-certain to be exceeded if coverage is achieved.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scenario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saved = baseline × controllable share × coverage × saving rate on controlled loads. Rates: S1, S6, S10–S13. Estimates, subject to AIU baseline validation.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tat Controllable share of total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share of total</a:t>
            </a:r>
            <a:endParaRPr lang="en-US" sz="1300" dirty="0"/>
          </a:p>
        </p:txBody>
      </p:sp>
      <p:sp>
        <p:nvSpPr>
          <p:cNvPr id="9" name="stat Automation coverage (project target)"/>
          <p:cNvSpPr/>
          <p:nvPr/>
        </p:nvSpPr>
        <p:spPr>
          <a:xfrm>
            <a:off x="338328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 (project target)</a:t>
            </a:r>
            <a:endParaRPr lang="en-US" sz="1300" dirty="0"/>
          </a:p>
        </p:txBody>
      </p:sp>
      <p:sp>
        <p:nvSpPr>
          <p:cNvPr id="12" name="stat Saving on controlled loads"/>
          <p:cNvSpPr/>
          <p:nvPr/>
        </p:nvSpPr>
        <p:spPr>
          <a:xfrm>
            <a:off x="62179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on controlled loads</a:t>
            </a:r>
            <a:endParaRPr lang="en-US" sz="1300" dirty="0"/>
          </a:p>
        </p:txBody>
      </p:sp>
      <p:sp>
        <p:nvSpPr>
          <p:cNvPr id="15" name="stat Annual energy saved"/>
          <p:cNvSpPr/>
          <p:nvPr/>
        </p:nvSpPr>
        <p:spPr>
          <a:xfrm>
            <a:off x="905256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3B3F9E"/>
          </a:solidFill>
          <a:ln w="12700">
            <a:solidFill>
              <a:srgbClr val="3B3F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8972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3.28 GWh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saved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 of total  |  12.6% of controllable  |  273,409 kWh per month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scenario is reasonable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sits at Pace's programme average (≈18%), CMU/DOE target (20%) and Crete (&gt;20%).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coverage is a realistic first-phase deployment target.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Conservative, forms the defensible planning range: 5–13% of controllable energy.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High-impact scenario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saved = baseline × controllable share × coverage × saving rate on controlled loads. Rates: S1, S6, S10–S13. Estimates, subject to AIU baseline validation.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tat Controllable share of total"/>
          <p:cNvSpPr/>
          <p:nvPr/>
        </p:nvSpPr>
        <p:spPr>
          <a:xfrm>
            <a:off x="54864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share of total</a:t>
            </a:r>
            <a:endParaRPr lang="en-US" sz="1300" dirty="0"/>
          </a:p>
        </p:txBody>
      </p:sp>
      <p:sp>
        <p:nvSpPr>
          <p:cNvPr id="9" name="stat Automation coverage (project target)"/>
          <p:cNvSpPr/>
          <p:nvPr/>
        </p:nvSpPr>
        <p:spPr>
          <a:xfrm>
            <a:off x="338328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 (project target)</a:t>
            </a:r>
            <a:endParaRPr lang="en-US" sz="1300" dirty="0"/>
          </a:p>
        </p:txBody>
      </p:sp>
      <p:sp>
        <p:nvSpPr>
          <p:cNvPr id="12" name="stat Saving on controlled loads"/>
          <p:cNvSpPr/>
          <p:nvPr/>
        </p:nvSpPr>
        <p:spPr>
          <a:xfrm>
            <a:off x="621792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on controlled loads</a:t>
            </a:r>
            <a:endParaRPr lang="en-US" sz="1300" dirty="0"/>
          </a:p>
        </p:txBody>
      </p:sp>
      <p:sp>
        <p:nvSpPr>
          <p:cNvPr id="15" name="stat Annual energy saved"/>
          <p:cNvSpPr/>
          <p:nvPr/>
        </p:nvSpPr>
        <p:spPr>
          <a:xfrm>
            <a:off x="9052560" y="137160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B0202A"/>
          </a:solidFill>
          <a:ln w="12700">
            <a:solidFill>
              <a:srgbClr val="B0202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89720" y="14813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7.66 GWh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1762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saved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17.6% of total  |  25.2% of controllable  |  637,955 kWh per month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scenario is reasonable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reflects Korean measured end-use results (27.9–32.4%, dorm 28.2%).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90% coverage and sustained results; 30%+ is NOT assumed (S2's 34% is a multi-measure retrofit).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— not a plan. 51–61% lab savings need ventilation redesign our system does not do.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annual energy savings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output; baseline 43.4 GWh/yr (benchmark-based). Category shares of 263,020 m² are a labelled assumption (LOW confidence).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035040" y="128016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Five-year impact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annual saving from first full year; no ramp-up, degradation, growth or tariff escalation. Estimates.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at Conservative, 5 years"/>
          <p:cNvSpPr/>
          <p:nvPr/>
        </p:nvSpPr>
        <p:spPr>
          <a:xfrm>
            <a:off x="8138160" y="1371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14813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A6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5.42 GWh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1259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Conservative, 5 years</a:t>
            </a:r>
            <a:endParaRPr lang="en-US" sz="1300" dirty="0"/>
          </a:p>
        </p:txBody>
      </p:sp>
      <p:sp>
        <p:nvSpPr>
          <p:cNvPr id="9" name="stat Moderate, 5 years"/>
          <p:cNvSpPr/>
          <p:nvPr/>
        </p:nvSpPr>
        <p:spPr>
          <a:xfrm>
            <a:off x="8138160" y="29260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303580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3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16.40 GWh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36804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Moderate, 5 years</a:t>
            </a:r>
            <a:endParaRPr lang="en-US" sz="1300" dirty="0"/>
          </a:p>
        </p:txBody>
      </p:sp>
      <p:sp>
        <p:nvSpPr>
          <p:cNvPr id="12" name="stat High-impact, 5 years"/>
          <p:cNvSpPr/>
          <p:nvPr/>
        </p:nvSpPr>
        <p:spPr>
          <a:xfrm>
            <a:off x="8138160" y="44805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459028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2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38.28 GWh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52349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High-impact, 5 years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and CO₂ impact — scenarios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E1: EgyptERA tariff from April 2026, medium-voltage 'other users' 255 Pt/kWh = EGP 2.55/kWh (excl. 3 Pt stamp and fees). AIU category not verified. CO₂: Ember 0.563 kg/kWh (E2, secondary access; re-confirm).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468880"/>
                <a:gridCol w="24688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High-impact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 (EGP million)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saving (EGP million)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@ EGP 2.74 LV (million)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avoided per year (t, indicative)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21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energy-cost saving only: capital, maintenance and installation costs are not included, so no payback is claimed. Constant tariff, no escalation. CO₂ = kWh × 0.563 kg/kWh (Ember, lifecycle basis; confidence MEDIUM).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Lab case: classrooms vs laboratories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S3–S4 (UC Irvine), S11 (ACEEE), S1 (Seoul). Our planning rates for labs: 5 / 10 / 20% on a 40% controllable share.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classrooms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+ cooling follow occupancy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Seoul: 32.4% lighting, 27.9% cooling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ACEEE education model: 11%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system: occupancy-confirmed shutdown — fits directly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Laboratories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1945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Ventilation, exhaust and process loads dominate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Irvine: 61% avg (10 labs), 51% NS-II — via variable air-change control + air-quality + occupancy sensing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ACEEE lab model: 40%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system: non-critical loads only; critical devices guarded — we do not claim UCI-level savings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valid, and the research gap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evidence: S1–S13. Gap statement is limited to the sources reviewed; it is not a claim that no such system exists.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by existing research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sensing works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and HVAC automation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management works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buildings achieve measurable savings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focus in reviewed work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· HVAC · occupancy · energy monitoring · single buildings · laboratory optimisation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463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contribution: integration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10312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sensing + context + verification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decision + physical control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measurement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access, evidence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and auditability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one Command Center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AIU Smart Campus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SENSE → ANALYZE → VERIFY → DECIDE → ACT → MONITOR (deterministic rules, not AI/ML). Prototype status: no measured AIU kWh savings yet.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telemetry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23160" y="14630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2316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+ 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9768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empty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14630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+ guard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6720" y="14630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B0202A"/>
          </a:solidFill>
          <a:ln w="12700">
            <a:solidFill>
              <a:srgbClr val="B020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loads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921240" y="146304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921240" y="1600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92124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energy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29184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before action cuts nuisance shutdowns — the usual reason occupancy control gets disabled.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context and CRITICAL-device guard make one sensor drive safe, different actions for classrooms, labs and dorms.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readings + automation logs turn assumed savings into measurable before/after kWh.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control, evidence and investigation make automated physical actions auditable.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12 months of AIU meter data · alternate-week ON/OFF pilot with reference rooms · weather-normalised kWh · report with confidence intervals.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AIU figures are benchmark-based projections to be validated against AIU meter data.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355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measured 27.9–32.4% on classroom end-uses and 28.2% in dorms; U.S. campus-level programmes show ≈9–20%.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AIU target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514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5–13% of controllable energy ≈ 1.08–3.28 GWh/yr (2.5–7.6% of total); ≈ EGP 2.8–8.4 million/yr.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Biggest potential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657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buildings and dormitories; labs less under non-critical-load control.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00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800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meter data, sub-metering, alternate-week ON/OFF pilot with reference rooms, weather normalisation.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comparable university implementations, AIU could potentially target an estimated 5–13% reduction in controllable energy, subject to validation through actual baseline measurements.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AIU Smart Campus — Energy Impact &amp; Benchmark Analysis</dc:title>
  <dc:subject>PptxGenJS Presentation</dc:subject>
  <dc:creator>PptxGenJS</dc:creator>
  <cp:lastModifiedBy>PptxGenJS</cp:lastModifiedBy>
  <cp:revision>1</cp:revision>
  <dcterms:created xsi:type="dcterms:W3CDTF">2026-10-06T14:39:56Z</dcterms:created>
  <dcterms:modified xsi:type="dcterms:W3CDTF">2026-10-06T14:39:56Z</dcterms:modified>
</cp:coreProperties>
</file>